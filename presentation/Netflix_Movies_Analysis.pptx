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701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822960" y="521208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</a:t>
            </a:r>
            <a:r>
              <a:rPr lang="en-US" sz="5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29844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2432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Uncovering patterns in ratings, genres, countries and languages across 16,000 films (2010–2025).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630168"/>
            <a:ext cx="38404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Krishna Thombare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476645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76645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476645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03120" y="477316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•  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Ready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1F1F1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509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01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944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open dataset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547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40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16,000 movies, spanning 2010 – 2025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4439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COLUMNS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736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columns as collected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COLUMNS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6327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to 12 after cleaning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1F1F1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5091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1801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Process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29400" y="2770632"/>
            <a:ext cx="91440" cy="9144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251460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Performed in Excel, before any dashboard was built.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29400" y="3776472"/>
            <a:ext cx="91440" cy="9144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350383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and fixed missing values, duplicate rows and inconsistent entries.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629400" y="4782312"/>
            <a:ext cx="91440" cy="9144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0" y="4672957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separate supporting tables for Genres and Countries, since a single movie can belong to multiple genres and countries.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1274552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09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MOVIES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•  OBJECTIVE &amp; QUESTIONS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Set Out to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222222"/>
          </a:solidFill>
          <a:ln w="19050">
            <a:solidFill>
              <a:srgbClr val="E509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002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 </a:t>
            </a: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a large movie dataset to understand patterns in ratings, genres, countries and languages.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3319272" cy="3291840"/>
          </a:xfrm>
          <a:prstGeom prst="roundRect">
            <a:avLst>
              <a:gd name="adj" fmla="val 3333"/>
            </a:avLst>
          </a:prstGeom>
          <a:solidFill>
            <a:srgbClr val="1F1F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3246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20624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 &amp; Ratings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709160"/>
            <a:ext cx="2679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most common movie genres, and what is their average rating?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16552" y="2971800"/>
            <a:ext cx="3319272" cy="3291840"/>
          </a:xfrm>
          <a:prstGeom prst="roundRect">
            <a:avLst>
              <a:gd name="adj" fmla="val 3333"/>
            </a:avLst>
          </a:prstGeom>
          <a:solidFill>
            <a:srgbClr val="1F1F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36592" y="3246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420624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Movies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4709160"/>
            <a:ext cx="2679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movies are top rated, and how is the rating distribution shaped?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10144" y="2971800"/>
            <a:ext cx="3319272" cy="3291840"/>
          </a:xfrm>
          <a:prstGeom prst="roundRect">
            <a:avLst>
              <a:gd name="adj" fmla="val 3333"/>
            </a:avLst>
          </a:prstGeom>
          <a:solidFill>
            <a:srgbClr val="1F1F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0184" y="3246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420624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 &amp; Language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4709160"/>
            <a:ext cx="2679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movies distributed globally, and which languages lead?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274552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09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MOVIES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2">
            <a:extLst>
              <a:ext uri="{FF2B5EF4-FFF2-40B4-BE49-F238E27FC236}">
                <a16:creationId xmlns:a16="http://schemas.microsoft.com/office/drawing/2014/main" id="{75540730-0F54-165D-1544-E3340B327B35}"/>
              </a:ext>
            </a:extLst>
          </p:cNvPr>
          <p:cNvSpPr/>
          <p:nvPr/>
        </p:nvSpPr>
        <p:spPr>
          <a:xfrm>
            <a:off x="8915400" y="1452963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50914"/>
          </a:solidFill>
          <a:ln/>
        </p:spPr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27350BF5-9B65-139B-E03B-949389E446CB}"/>
              </a:ext>
            </a:extLst>
          </p:cNvPr>
          <p:cNvSpPr/>
          <p:nvPr/>
        </p:nvSpPr>
        <p:spPr>
          <a:xfrm>
            <a:off x="6217920" y="1435608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50914"/>
          </a:solidFill>
          <a:ln/>
        </p:spPr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3877DD83-220E-3B3D-A0D8-D300EB55553B}"/>
              </a:ext>
            </a:extLst>
          </p:cNvPr>
          <p:cNvSpPr/>
          <p:nvPr/>
        </p:nvSpPr>
        <p:spPr>
          <a:xfrm>
            <a:off x="3520440" y="14173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50914"/>
          </a:solidFill>
          <a:ln/>
        </p:spPr>
      </p:sp>
      <p:sp>
        <p:nvSpPr>
          <p:cNvPr id="2" name="Text 0"/>
          <p:cNvSpPr txBox="1"/>
          <p:nvPr/>
        </p:nvSpPr>
        <p:spPr>
          <a:xfrm>
            <a:off x="82296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•  DASHBOARD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the Full Dataset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509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270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MOVIES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59481" y="15270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17920" y="15270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GENRES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915400" y="15270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11.5M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VOTES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2697480"/>
            <a:ext cx="5212080" cy="1481328"/>
          </a:xfrm>
          <a:prstGeom prst="roundRect">
            <a:avLst>
              <a:gd name="adj" fmla="val 6173"/>
            </a:avLst>
          </a:prstGeom>
          <a:solidFill>
            <a:srgbClr val="1F1F1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" y="2916936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289864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Genres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4728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 leads the top 10 genres, followed by Comedy and Thriller.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17920" y="2697480"/>
            <a:ext cx="5212080" cy="1481328"/>
          </a:xfrm>
          <a:prstGeom prst="roundRect">
            <a:avLst>
              <a:gd name="adj" fmla="val 6173"/>
            </a:avLst>
          </a:prstGeom>
          <a:solidFill>
            <a:srgbClr val="1F1F1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2916936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89864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Rated Movies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44728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for rating &gt; 7 and 1,000+ votes — Interstellar has the highest vote count.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2960" y="4361688"/>
            <a:ext cx="5212080" cy="1481328"/>
          </a:xfrm>
          <a:prstGeom prst="roundRect">
            <a:avLst>
              <a:gd name="adj" fmla="val 6173"/>
            </a:avLst>
          </a:prstGeom>
          <a:solidFill>
            <a:srgbClr val="1F1F1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4581144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9728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645920" y="456285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Distribution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11149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map view highlights the countries producing the most movies in the dataset.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17920" y="4361688"/>
            <a:ext cx="5212080" cy="1481328"/>
          </a:xfrm>
          <a:prstGeom prst="roundRect">
            <a:avLst>
              <a:gd name="adj" fmla="val 6173"/>
            </a:avLst>
          </a:prstGeom>
          <a:solidFill>
            <a:srgbClr val="1F1F1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92240" y="4581144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9224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456285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511149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movies cluster around the middle rating range, not at the extremes.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11274552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309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MOVIES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•  DASHBOARD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&amp; Languages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19272" cy="4297680"/>
          </a:xfrm>
          <a:prstGeom prst="roundRect">
            <a:avLst>
              <a:gd name="adj" fmla="val 3306"/>
            </a:avLst>
          </a:prstGeom>
          <a:solidFill>
            <a:srgbClr val="1F1F1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14884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7432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 by Year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749040"/>
            <a:ext cx="26791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ratings shift over time, with later years showing higher averages than early years.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16552" y="1828800"/>
            <a:ext cx="3319272" cy="4297680"/>
          </a:xfrm>
          <a:prstGeom prst="roundRect">
            <a:avLst>
              <a:gd name="adj" fmla="val 3306"/>
            </a:avLst>
          </a:prstGeom>
          <a:solidFill>
            <a:srgbClr val="1F1F1F"/>
          </a:solidFill>
          <a:ln/>
        </p:spPr>
      </p:sp>
      <p:sp>
        <p:nvSpPr>
          <p:cNvPr id="11" name="Shape 9"/>
          <p:cNvSpPr/>
          <p:nvPr/>
        </p:nvSpPr>
        <p:spPr>
          <a:xfrm>
            <a:off x="4736592" y="214884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3659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27432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 by Genre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342900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420624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5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Documentary — Highest Avg Rating</a:t>
            </a:r>
            <a:endParaRPr lang="en-US" sz="11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736592" y="4312609"/>
            <a:ext cx="2679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genres, Documentary comes out on top with the highest average rating.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10144" y="1828800"/>
            <a:ext cx="3319272" cy="4297680"/>
          </a:xfrm>
          <a:prstGeom prst="roundRect">
            <a:avLst>
              <a:gd name="adj" fmla="val 3306"/>
            </a:avLst>
          </a:prstGeom>
          <a:solidFill>
            <a:srgbClr val="1F1F1F"/>
          </a:solidFill>
          <a:ln/>
        </p:spPr>
      </p:sp>
      <p:sp>
        <p:nvSpPr>
          <p:cNvPr id="18" name="Shape 16"/>
          <p:cNvSpPr/>
          <p:nvPr/>
        </p:nvSpPr>
        <p:spPr>
          <a:xfrm>
            <a:off x="8330184" y="214884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3018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30184" y="27432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Languages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342900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9,534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420624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5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Movies are in English</a:t>
            </a:r>
            <a:endParaRPr lang="en-US" sz="11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330184" y="4312609"/>
            <a:ext cx="2679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dominates the dataset, followed by French, then Japanese and others.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1274552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09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MOVIES ANALYSIS</a:t>
            </a:r>
            <a:endParaRPr lang="en-US" sz="9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894154D1-350F-37B0-D3FC-2B453E4D8815}"/>
              </a:ext>
            </a:extLst>
          </p:cNvPr>
          <p:cNvSpPr txBox="1"/>
          <p:nvPr/>
        </p:nvSpPr>
        <p:spPr>
          <a:xfrm>
            <a:off x="1143000" y="338328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– 6.5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•  KEY FINDINGS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509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6479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 is the most common genre overall, while Documentary earns the highest average rating (~7.1).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509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3347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ratings have trended upward in more recent years compared to earlier ones.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5091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50215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English-language films dominate the dataset (9,534 movies), followed by French and Japanese.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3891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5091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7083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movies rate in the middle range — very few sit at the extreme high or low end.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5394960"/>
            <a:ext cx="10515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623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Krishna Thombare  |  Built with Excel &amp; Tableau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475</Words>
  <Application>Microsoft Office PowerPoint</Application>
  <PresentationFormat>Widescreen</PresentationFormat>
  <Paragraphs>100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Krishna Thombare</cp:lastModifiedBy>
  <cp:revision>2</cp:revision>
  <dcterms:created xsi:type="dcterms:W3CDTF">2026-09-01T03:31:21Z</dcterms:created>
  <dcterms:modified xsi:type="dcterms:W3CDTF">2026-09-01T03:57:52Z</dcterms:modified>
</cp:coreProperties>
</file>